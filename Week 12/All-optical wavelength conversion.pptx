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6" r:id="rId5"/>
    <p:sldId id="277" r:id="rId6"/>
    <p:sldId id="259" r:id="rId7"/>
    <p:sldId id="271" r:id="rId8"/>
    <p:sldId id="272" r:id="rId9"/>
    <p:sldId id="269" r:id="rId10"/>
    <p:sldId id="270" r:id="rId11"/>
    <p:sldId id="273" r:id="rId12"/>
    <p:sldId id="274" r:id="rId13"/>
    <p:sldId id="260" r:id="rId14"/>
    <p:sldId id="275" r:id="rId15"/>
    <p:sldId id="262" r:id="rId16"/>
    <p:sldId id="278" r:id="rId17"/>
    <p:sldId id="279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5332E95-181D-4486-A648-7CA7C17C5DC9}">
          <p14:sldIdLst>
            <p14:sldId id="256"/>
            <p14:sldId id="257"/>
            <p14:sldId id="258"/>
            <p14:sldId id="266"/>
            <p14:sldId id="277"/>
          </p14:sldIdLst>
        </p14:section>
        <p14:section name="Untitled Section" id="{B39FCF1A-3030-4DFB-AF2A-8E7F6DF957D7}">
          <p14:sldIdLst>
            <p14:sldId id="259"/>
            <p14:sldId id="271"/>
            <p14:sldId id="272"/>
            <p14:sldId id="269"/>
            <p14:sldId id="270"/>
            <p14:sldId id="273"/>
            <p14:sldId id="274"/>
            <p14:sldId id="260"/>
            <p14:sldId id="275"/>
            <p14:sldId id="262"/>
            <p14:sldId id="278"/>
            <p14:sldId id="27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084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75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8D9BF-D532-4352-8E65-93FE6DA6A5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B0D069-D99B-4DCD-AF3E-041E639C7D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3BB6CF-2C5F-484D-8358-8DCFD62DF9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E5088-208C-49E9-A969-68637CF11E84}" type="datetimeFigureOut">
              <a:rPr lang="en-US" smtClean="0"/>
              <a:t>11/6/2018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EE1790-BC8C-4E84-A3CB-E6517DB85D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A7E9F8-76C5-4D19-95D1-AC5AE9AB1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569EB-A523-432E-9C43-765E5AC330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999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AC704C-7A4E-4B2F-8F9B-41F34B6E5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87520C-7162-43FB-822B-82FAD0E47B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A50C2C-AF29-49AA-90F0-9B64E7C206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E5088-208C-49E9-A969-68637CF11E84}" type="datetimeFigureOut">
              <a:rPr lang="en-US" smtClean="0"/>
              <a:t>11/6/2018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E54E79-5396-4A40-A939-A5F820E087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1018BE-89DA-4129-8962-D115ACB31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569EB-A523-432E-9C43-765E5AC330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868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6D31F1-76B4-4A4A-ACA2-7CA6E30FD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FB53C7-55AE-453A-9B96-49FB1F32C2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58C225-9B00-4377-96DA-04386B824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E5088-208C-49E9-A969-68637CF11E84}" type="datetimeFigureOut">
              <a:rPr lang="en-US" smtClean="0"/>
              <a:t>11/6/2018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F8D8D7-D739-49AA-8ED0-C8D3B2010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E503C3-EF1B-4451-A2FF-002926589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569EB-A523-432E-9C43-765E5AC330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9164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F38E7-D4CF-44AB-8D02-8FBCD0318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354A39-ECFC-4D99-A89E-E6C4A99127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D38453-115C-45DA-BEBD-BBFEAAF7B9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D4DA4C-920D-4C82-95CF-618D4786F0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E5088-208C-49E9-A969-68637CF11E84}" type="datetimeFigureOut">
              <a:rPr lang="en-US" smtClean="0"/>
              <a:t>11/6/2018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209E35-B314-4D5A-8475-EF50A08BD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C8A8C8-B4E9-4B34-A3CC-9B7029725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569EB-A523-432E-9C43-765E5AC330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4586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4C11AB-6405-4BC2-8CF2-0DF5AE9B7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EE70F5-6F8B-49D8-8D94-FF078969A1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0E3FB3-5529-4E52-B128-D23AA31B74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16E333-9C63-4AFB-BA36-61C867D13D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320A40-0605-40B6-A276-297866D10D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1D54B1B-2D1F-4B06-8D81-9ACF05CCBB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E5088-208C-49E9-A969-68637CF11E84}" type="datetimeFigureOut">
              <a:rPr lang="en-US" smtClean="0"/>
              <a:t>11/6/2018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C9A559E-CC89-4626-90A0-6848FEBAF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C85E5E4-DA22-40CA-ABA2-A5E219FA6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569EB-A523-432E-9C43-765E5AC330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0731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7ED507-F24A-458A-B90E-0F4C2EB5C4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ED7A50D-B3CE-4090-BAD6-B59ABF22C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E5088-208C-49E9-A969-68637CF11E84}" type="datetimeFigureOut">
              <a:rPr lang="en-US" smtClean="0"/>
              <a:t>11/6/2018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EBC657-C59A-4C31-9658-5BEF946FF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6C2C3D-BDF3-4787-B180-A460E7838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569EB-A523-432E-9C43-765E5AC330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55268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109144-B901-403C-83BA-2DEA2296F2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E5088-208C-49E9-A969-68637CF11E84}" type="datetimeFigureOut">
              <a:rPr lang="en-US" smtClean="0"/>
              <a:t>11/6/2018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A25D5B-217A-48D8-94BB-CDB10F914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0D2A42-CC5D-4B4F-9E76-C42A1BC26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569EB-A523-432E-9C43-765E5AC330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211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E31B9-9B97-4E3B-A9F1-911B76354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1B60C7-3C63-40C8-8D3E-A52EDD1877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C70944-AE10-451A-A905-48ED970E4F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99A60E-B560-4DF5-A386-7B7CE30A9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E5088-208C-49E9-A969-68637CF11E84}" type="datetimeFigureOut">
              <a:rPr lang="en-US" smtClean="0"/>
              <a:t>11/6/2018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C53B61-2728-4935-B77A-BA7F050C8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CCFAA9-D6AF-452A-A92C-0B9C15E41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569EB-A523-432E-9C43-765E5AC330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2161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1E419-CDA0-4AFA-9C22-35FDF5EDBF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79517B-E44C-4615-928A-8FDEFD1839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64BE7D-97EA-4C0F-AC8A-F1D92C9141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F5A3A7-436B-43DA-AA4B-962023ABA2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E5088-208C-49E9-A969-68637CF11E84}" type="datetimeFigureOut">
              <a:rPr lang="en-US" smtClean="0"/>
              <a:t>11/6/2018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5A4DDC-386C-4831-992C-51E1DF565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C071BC-C98A-4684-952D-7575E966D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569EB-A523-432E-9C43-765E5AC330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1936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BD670-ECB4-4417-99CC-DFE791EDD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5B9EB3-DA05-45A3-95DA-1E3992FC52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C3CA06-A886-4D9F-B430-AD6F014AB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E5088-208C-49E9-A969-68637CF11E84}" type="datetimeFigureOut">
              <a:rPr lang="en-US" smtClean="0"/>
              <a:t>11/6/2018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A65E65-FEF6-4E5C-A5C1-65A65CAB1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7CB7BA-3A32-44DA-8E3D-2C60546C4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569EB-A523-432E-9C43-765E5AC330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501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109AB9-0EF3-4A2D-92E3-11DAC03911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220BF6-3969-4170-A81E-38FCBB2E37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7C4623-155B-46B6-B4DF-840618CB25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E5088-208C-49E9-A969-68637CF11E84}" type="datetimeFigureOut">
              <a:rPr lang="en-US" smtClean="0"/>
              <a:t>11/6/2018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6ADB5A-6413-405B-B46E-BB2D276F03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BE1652-4300-408E-960C-6B979E265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569EB-A523-432E-9C43-765E5AC330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686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7CB6E4-6747-4E51-BD1A-55F8623169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B24DB2-0742-4AD9-BDF7-09A0EA8135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B27FD0-BFD3-4A20-9F78-BE953897EB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7E5088-208C-49E9-A969-68637CF11E84}" type="datetimeFigureOut">
              <a:rPr lang="en-US" smtClean="0"/>
              <a:t>11/6/2018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65D8B2-2E9A-4119-9A95-E7A8B87988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9B04BE-58F1-4140-B7FE-CDBA52D174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8569EB-A523-432E-9C43-765E5AC330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16220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sv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43F367-7242-425D-B17A-533870E206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77746"/>
            <a:ext cx="9144000" cy="2387600"/>
          </a:xfrm>
        </p:spPr>
        <p:txBody>
          <a:bodyPr/>
          <a:lstStyle/>
          <a:p>
            <a:r>
              <a:rPr lang="en-US" dirty="0">
                <a:latin typeface="SF Compact Display" panose="020B0304030202060204" pitchFamily="34" charset="0"/>
              </a:rPr>
              <a:t>All-optical wavelength conversion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4A4399-4A9F-4FD9-BC82-906427C7AF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065346"/>
            <a:ext cx="9144000" cy="2980887"/>
          </a:xfrm>
        </p:spPr>
        <p:txBody>
          <a:bodyPr>
            <a:noAutofit/>
          </a:bodyPr>
          <a:lstStyle/>
          <a:p>
            <a:r>
              <a:rPr lang="en-US" sz="3600" dirty="0">
                <a:solidFill>
                  <a:prstClr val="black"/>
                </a:solidFill>
                <a:latin typeface="SF Compact Display" panose="020B0304030202060204" pitchFamily="34" charset="0"/>
              </a:rPr>
              <a:t>11/8/2018</a:t>
            </a:r>
            <a:endParaRPr lang="en-US" sz="3600" dirty="0">
              <a:latin typeface="SF Compact Display" panose="020B0304030202060204" pitchFamily="34" charset="0"/>
            </a:endParaRPr>
          </a:p>
          <a:p>
            <a:r>
              <a:rPr lang="en-US" sz="3600" dirty="0">
                <a:latin typeface="SF Compact Display" panose="020B0304030202060204" pitchFamily="34" charset="0"/>
              </a:rPr>
              <a:t>University of Southern California</a:t>
            </a:r>
          </a:p>
          <a:p>
            <a:r>
              <a:rPr lang="en-US" sz="3600" dirty="0">
                <a:latin typeface="SF Compact Display" panose="020B0304030202060204" pitchFamily="34" charset="0"/>
              </a:rPr>
              <a:t>Team 558 - Optical Fiber Communication Systems</a:t>
            </a:r>
          </a:p>
          <a:p>
            <a:r>
              <a:rPr lang="en-US" sz="3600" dirty="0">
                <a:latin typeface="SF Compact Display" panose="020B0304030202060204" pitchFamily="34" charset="0"/>
              </a:rPr>
              <a:t>Prof. </a:t>
            </a:r>
            <a:r>
              <a:rPr lang="en-US" sz="3600" dirty="0" err="1">
                <a:latin typeface="SF Compact Display" panose="020B0304030202060204" pitchFamily="34" charset="0"/>
              </a:rPr>
              <a:t>Willner</a:t>
            </a:r>
            <a:endParaRPr lang="en-US" sz="3600" dirty="0">
              <a:latin typeface="SF Compact Display" panose="020B0304030202060204" pitchFamily="34" charset="0"/>
            </a:endParaRPr>
          </a:p>
          <a:p>
            <a:endParaRPr lang="en-US" sz="3600" dirty="0">
              <a:latin typeface="SF Compact Display" panose="020B030403020206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0E91DB-26D9-4130-AFED-D1B40C01BA9A}"/>
              </a:ext>
            </a:extLst>
          </p:cNvPr>
          <p:cNvSpPr txBox="1"/>
          <p:nvPr/>
        </p:nvSpPr>
        <p:spPr>
          <a:xfrm>
            <a:off x="1524000" y="6046233"/>
            <a:ext cx="9144000" cy="8679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lnSpc>
                <a:spcPct val="90000"/>
              </a:lnSpc>
              <a:spcBef>
                <a:spcPts val="1000"/>
              </a:spcBef>
            </a:pPr>
            <a:r>
              <a:rPr lang="en-US" sz="3600" dirty="0">
                <a:solidFill>
                  <a:prstClr val="black"/>
                </a:solidFill>
                <a:latin typeface="SF Compact Display" panose="020B0304030202060204" pitchFamily="34" charset="0"/>
              </a:rPr>
              <a:t>Presented by Binh Phan</a:t>
            </a:r>
          </a:p>
          <a:p>
            <a:endParaRPr lang="en-US" dirty="0">
              <a:latin typeface="SF Compact Display" panose="020B030403020206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75527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991AB-0AC4-4A9F-920F-6953DF5F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SF Compact Display" panose="020B0304030202060204" pitchFamily="34" charset="0"/>
              </a:rPr>
              <a:t>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BBB8BA-4B26-488A-9FE1-415E4400D6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74664" y="2716836"/>
            <a:ext cx="536895" cy="66272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l-GR" dirty="0"/>
              <a:t>λ</a:t>
            </a:r>
            <a:r>
              <a:rPr lang="en-US" baseline="-25000" dirty="0"/>
              <a:t>1</a:t>
            </a:r>
            <a:endParaRPr lang="en-US" dirty="0">
              <a:latin typeface="SF Compact Display" panose="020B0304030202060204" pitchFamily="34" charset="0"/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F1406C2-0F73-49A9-A47D-C765DC555747}"/>
              </a:ext>
            </a:extLst>
          </p:cNvPr>
          <p:cNvCxnSpPr>
            <a:cxnSpLocks/>
          </p:cNvCxnSpPr>
          <p:nvPr/>
        </p:nvCxnSpPr>
        <p:spPr>
          <a:xfrm flipV="1">
            <a:off x="4402819" y="2984070"/>
            <a:ext cx="554375" cy="1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98133890-0C5C-4C11-BB3D-69856987CC01}"/>
              </a:ext>
            </a:extLst>
          </p:cNvPr>
          <p:cNvSpPr txBox="1"/>
          <p:nvPr/>
        </p:nvSpPr>
        <p:spPr>
          <a:xfrm>
            <a:off x="4957194" y="2059897"/>
            <a:ext cx="2260833" cy="18717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SF Compact Display" panose="020B0304030202060204" pitchFamily="34" charset="0"/>
              </a:rPr>
              <a:t>Tunable Wavelength Converter (TWC)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3E37ADB-0348-41F5-97B3-CBB9CA81DC89}"/>
              </a:ext>
            </a:extLst>
          </p:cNvPr>
          <p:cNvSpPr txBox="1">
            <a:spLocks/>
          </p:cNvSpPr>
          <p:nvPr/>
        </p:nvSpPr>
        <p:spPr>
          <a:xfrm>
            <a:off x="7778662" y="2716836"/>
            <a:ext cx="536895" cy="6627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l-GR" dirty="0"/>
              <a:t>λ</a:t>
            </a:r>
            <a:r>
              <a:rPr lang="en-US" baseline="-25000" dirty="0"/>
              <a:t>2</a:t>
            </a:r>
            <a:endParaRPr lang="en-US" dirty="0">
              <a:latin typeface="SF Compact Display" panose="020B0304030202060204" pitchFamily="34" charset="0"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336336F-C6C5-460E-8FB9-E72F55B276DC}"/>
              </a:ext>
            </a:extLst>
          </p:cNvPr>
          <p:cNvCxnSpPr>
            <a:cxnSpLocks/>
          </p:cNvCxnSpPr>
          <p:nvPr/>
        </p:nvCxnSpPr>
        <p:spPr>
          <a:xfrm flipV="1">
            <a:off x="7224287" y="2995773"/>
            <a:ext cx="554375" cy="1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C4664A63-05A7-409E-A9B6-616DFD8B3400}"/>
              </a:ext>
            </a:extLst>
          </p:cNvPr>
          <p:cNvSpPr txBox="1"/>
          <p:nvPr/>
        </p:nvSpPr>
        <p:spPr>
          <a:xfrm>
            <a:off x="1112939" y="4672943"/>
            <a:ext cx="99661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SF Compact Display" panose="020B0304030202060204" pitchFamily="34" charset="0"/>
              </a:rPr>
              <a:t>All-optical: no electronics – too slow and costly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C5F5F22-1C66-4034-A312-9A4856C3D2A8}"/>
              </a:ext>
            </a:extLst>
          </p:cNvPr>
          <p:cNvSpPr txBox="1"/>
          <p:nvPr/>
        </p:nvSpPr>
        <p:spPr>
          <a:xfrm>
            <a:off x="1104549" y="5845124"/>
            <a:ext cx="99661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SF Compact Display" panose="020B0304030202060204" pitchFamily="34" charset="0"/>
              </a:rPr>
              <a:t>Applications: packet switching, contention resolution</a:t>
            </a:r>
          </a:p>
        </p:txBody>
      </p:sp>
    </p:spTree>
    <p:extLst>
      <p:ext uri="{BB962C8B-B14F-4D97-AF65-F5344CB8AC3E}">
        <p14:creationId xmlns:p14="http://schemas.microsoft.com/office/powerpoint/2010/main" val="32389541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5E707-F1CE-48B5-9113-A3C403CCB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SF Compact Display" panose="020B0304030202060204" pitchFamily="34" charset="0"/>
              </a:rPr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4F8BDC-3914-410A-A358-71913D2E56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SF Compact Display" panose="020B0304030202060204" pitchFamily="34" charset="0"/>
              </a:rPr>
              <a:t>1. Semiconductor Optical Amplifier (SOA)</a:t>
            </a:r>
          </a:p>
          <a:p>
            <a:pPr marL="0" indent="0">
              <a:buNone/>
            </a:pPr>
            <a:r>
              <a:rPr lang="en-US" dirty="0">
                <a:latin typeface="SF Compact Display" panose="020B0304030202060204" pitchFamily="34" charset="0"/>
              </a:rPr>
              <a:t>2. AOWC using cross-gain modulation (XGM) in SOA</a:t>
            </a:r>
          </a:p>
          <a:p>
            <a:pPr marL="0" indent="0">
              <a:buNone/>
            </a:pPr>
            <a:r>
              <a:rPr lang="en-US" dirty="0">
                <a:latin typeface="SF Compact Display" panose="020B0304030202060204" pitchFamily="34" charset="0"/>
              </a:rPr>
              <a:t>3. AOWC using cross-phase modulation (XPM) in SOA</a:t>
            </a:r>
          </a:p>
          <a:p>
            <a:pPr marL="0" indent="0">
              <a:buNone/>
            </a:pPr>
            <a:r>
              <a:rPr lang="en-US" dirty="0">
                <a:latin typeface="SF Compact Display" panose="020B0304030202060204" pitchFamily="34" charset="0"/>
              </a:rPr>
              <a:t>4. AOWC using four-wave mixing (FWM) in SOA</a:t>
            </a:r>
          </a:p>
          <a:p>
            <a:pPr marL="0" indent="0">
              <a:buNone/>
            </a:pPr>
            <a:r>
              <a:rPr lang="en-US" dirty="0">
                <a:latin typeface="SF Compact Display" panose="020B0304030202060204" pitchFamily="34" charset="0"/>
              </a:rPr>
              <a:t>5. Performance Comparison</a:t>
            </a:r>
          </a:p>
        </p:txBody>
      </p:sp>
    </p:spTree>
    <p:extLst>
      <p:ext uri="{BB962C8B-B14F-4D97-AF65-F5344CB8AC3E}">
        <p14:creationId xmlns:p14="http://schemas.microsoft.com/office/powerpoint/2010/main" val="4591532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8E8EC-0380-40F9-9EE1-89F737CAB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SF Compact Display" panose="020B0304030202060204" pitchFamily="34" charset="0"/>
              </a:rPr>
              <a:t>Semiconductor Optical Amplifier (SOA)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9C7ECF5-D496-4B9C-82A7-72CF05D9CE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4389" y="1355842"/>
            <a:ext cx="6763222" cy="4351338"/>
          </a:xfr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825C1E1-38F7-443D-8606-A4A1C4A14DB9}"/>
              </a:ext>
            </a:extLst>
          </p:cNvPr>
          <p:cNvSpPr/>
          <p:nvPr/>
        </p:nvSpPr>
        <p:spPr>
          <a:xfrm>
            <a:off x="-1" y="6031210"/>
            <a:ext cx="1228148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>
                <a:latin typeface="SF Compact Display" panose="020B0304030202060204" pitchFamily="34" charset="0"/>
              </a:rPr>
              <a:t>Stubkjær</a:t>
            </a:r>
            <a:r>
              <a:rPr lang="en-US" dirty="0">
                <a:latin typeface="SF Compact Display" panose="020B0304030202060204" pitchFamily="34" charset="0"/>
              </a:rPr>
              <a:t>, K., </a:t>
            </a:r>
            <a:r>
              <a:rPr lang="en-US" dirty="0" err="1">
                <a:latin typeface="SF Compact Display" panose="020B0304030202060204" pitchFamily="34" charset="0"/>
              </a:rPr>
              <a:t>Jørgensen</a:t>
            </a:r>
            <a:r>
              <a:rPr lang="en-US" dirty="0">
                <a:latin typeface="SF Compact Display" panose="020B0304030202060204" pitchFamily="34" charset="0"/>
              </a:rPr>
              <a:t>, C., Danielsen, S. L., Mikkelsen, B., </a:t>
            </a:r>
            <a:r>
              <a:rPr lang="en-US" dirty="0" err="1">
                <a:latin typeface="SF Compact Display" panose="020B0304030202060204" pitchFamily="34" charset="0"/>
              </a:rPr>
              <a:t>Vaa</a:t>
            </a:r>
            <a:r>
              <a:rPr lang="en-US" dirty="0">
                <a:latin typeface="SF Compact Display" panose="020B0304030202060204" pitchFamily="34" charset="0"/>
              </a:rPr>
              <a:t>, M., Pedersen, R. J. S., ... </a:t>
            </a:r>
            <a:r>
              <a:rPr lang="en-US" dirty="0" err="1">
                <a:latin typeface="SF Compact Display" panose="020B0304030202060204" pitchFamily="34" charset="0"/>
              </a:rPr>
              <a:t>Ratovelomanana</a:t>
            </a:r>
            <a:r>
              <a:rPr lang="en-US" dirty="0">
                <a:latin typeface="SF Compact Display" panose="020B0304030202060204" pitchFamily="34" charset="0"/>
              </a:rPr>
              <a:t>, F. (1996). Wavelength conversion devices and techniques. In Proceedings of the 22nd European Conference on Optical Communication (Vol. Volume 4, pp. 33-40). IEEE.</a:t>
            </a:r>
          </a:p>
        </p:txBody>
      </p:sp>
    </p:spTree>
    <p:extLst>
      <p:ext uri="{BB962C8B-B14F-4D97-AF65-F5344CB8AC3E}">
        <p14:creationId xmlns:p14="http://schemas.microsoft.com/office/powerpoint/2010/main" val="20373616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8E8EC-0380-40F9-9EE1-89F737CAB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SF Compact Display" panose="020B0304030202060204" pitchFamily="34" charset="0"/>
              </a:rPr>
              <a:t>Semiconductor Optical Amplifier (SOA)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9C7ECF5-D496-4B9C-82A7-72CF05D9CE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4389" y="1355842"/>
            <a:ext cx="6763222" cy="4351338"/>
          </a:xfr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825C1E1-38F7-443D-8606-A4A1C4A14DB9}"/>
              </a:ext>
            </a:extLst>
          </p:cNvPr>
          <p:cNvSpPr/>
          <p:nvPr/>
        </p:nvSpPr>
        <p:spPr>
          <a:xfrm>
            <a:off x="-1" y="6031210"/>
            <a:ext cx="1228148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>
                <a:latin typeface="SF Compact Display" panose="020B0304030202060204" pitchFamily="34" charset="0"/>
              </a:rPr>
              <a:t>Stubkjær</a:t>
            </a:r>
            <a:r>
              <a:rPr lang="en-US" dirty="0">
                <a:latin typeface="SF Compact Display" panose="020B0304030202060204" pitchFamily="34" charset="0"/>
              </a:rPr>
              <a:t>, K., </a:t>
            </a:r>
            <a:r>
              <a:rPr lang="en-US" dirty="0" err="1">
                <a:latin typeface="SF Compact Display" panose="020B0304030202060204" pitchFamily="34" charset="0"/>
              </a:rPr>
              <a:t>Jørgensen</a:t>
            </a:r>
            <a:r>
              <a:rPr lang="en-US" dirty="0">
                <a:latin typeface="SF Compact Display" panose="020B0304030202060204" pitchFamily="34" charset="0"/>
              </a:rPr>
              <a:t>, C., Danielsen, S. L., Mikkelsen, B., </a:t>
            </a:r>
            <a:r>
              <a:rPr lang="en-US" dirty="0" err="1">
                <a:latin typeface="SF Compact Display" panose="020B0304030202060204" pitchFamily="34" charset="0"/>
              </a:rPr>
              <a:t>Vaa</a:t>
            </a:r>
            <a:r>
              <a:rPr lang="en-US" dirty="0">
                <a:latin typeface="SF Compact Display" panose="020B0304030202060204" pitchFamily="34" charset="0"/>
              </a:rPr>
              <a:t>, M., Pedersen, R. J. S., ... </a:t>
            </a:r>
            <a:r>
              <a:rPr lang="en-US" dirty="0" err="1">
                <a:latin typeface="SF Compact Display" panose="020B0304030202060204" pitchFamily="34" charset="0"/>
              </a:rPr>
              <a:t>Ratovelomanana</a:t>
            </a:r>
            <a:r>
              <a:rPr lang="en-US" dirty="0">
                <a:latin typeface="SF Compact Display" panose="020B0304030202060204" pitchFamily="34" charset="0"/>
              </a:rPr>
              <a:t>, F. (1996). Wavelength conversion devices and techniques. In Proceedings of the 22nd European Conference on Optical Communication (Vol. Volume 4, pp. 33-40). IEEE.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E6AF58F-0585-4223-B296-1690E544E7DA}"/>
              </a:ext>
            </a:extLst>
          </p:cNvPr>
          <p:cNvCxnSpPr/>
          <p:nvPr/>
        </p:nvCxnSpPr>
        <p:spPr>
          <a:xfrm>
            <a:off x="7122253" y="2055302"/>
            <a:ext cx="0" cy="2197916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D6AA148-4243-4E91-AB35-44BA9520D73C}"/>
              </a:ext>
            </a:extLst>
          </p:cNvPr>
          <p:cNvSpPr txBox="1"/>
          <p:nvPr/>
        </p:nvSpPr>
        <p:spPr>
          <a:xfrm>
            <a:off x="7291304" y="1744197"/>
            <a:ext cx="336398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SF Compact Display" panose="020B0304030202060204" pitchFamily="34" charset="0"/>
              </a:rPr>
              <a:t>High input signal power -&gt; No gain</a:t>
            </a:r>
          </a:p>
        </p:txBody>
      </p:sp>
    </p:spTree>
    <p:extLst>
      <p:ext uri="{BB962C8B-B14F-4D97-AF65-F5344CB8AC3E}">
        <p14:creationId xmlns:p14="http://schemas.microsoft.com/office/powerpoint/2010/main" val="40374620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5E707-F1CE-48B5-9113-A3C403CCB8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>
                <a:latin typeface="SF Compact Display" panose="020B0304030202060204" pitchFamily="34" charset="0"/>
              </a:rPr>
              <a:t>AOWC using cross-gain modulation (XGM) in SOA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EACC01BD-CC1A-47F3-84ED-6CBBAA7B07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465" y="1532782"/>
            <a:ext cx="11241069" cy="5325218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462AB4C7-B2D9-4355-B898-BE6BE756FC5D}"/>
              </a:ext>
            </a:extLst>
          </p:cNvPr>
          <p:cNvSpPr/>
          <p:nvPr/>
        </p:nvSpPr>
        <p:spPr>
          <a:xfrm>
            <a:off x="-2" y="6211669"/>
            <a:ext cx="1219200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SF Compact Display" panose="020B0304030202060204" pitchFamily="34" charset="0"/>
              </a:rPr>
              <a:t>Farah Diana </a:t>
            </a:r>
            <a:r>
              <a:rPr lang="en-US" dirty="0" err="1">
                <a:latin typeface="SF Compact Display" panose="020B0304030202060204" pitchFamily="34" charset="0"/>
              </a:rPr>
              <a:t>Mahad,Abu</a:t>
            </a:r>
            <a:r>
              <a:rPr lang="en-US" dirty="0">
                <a:latin typeface="SF Compact Display" panose="020B0304030202060204" pitchFamily="34" charset="0"/>
              </a:rPr>
              <a:t> </a:t>
            </a:r>
            <a:r>
              <a:rPr lang="en-US" dirty="0" err="1">
                <a:latin typeface="SF Compact Display" panose="020B0304030202060204" pitchFamily="34" charset="0"/>
              </a:rPr>
              <a:t>Sahmah</a:t>
            </a:r>
            <a:r>
              <a:rPr lang="en-US" dirty="0">
                <a:latin typeface="SF Compact Display" panose="020B0304030202060204" pitchFamily="34" charset="0"/>
              </a:rPr>
              <a:t> </a:t>
            </a:r>
            <a:r>
              <a:rPr lang="en-US" dirty="0" err="1">
                <a:latin typeface="SF Compact Display" panose="020B0304030202060204" pitchFamily="34" charset="0"/>
              </a:rPr>
              <a:t>M.Supa’at</a:t>
            </a:r>
            <a:r>
              <a:rPr lang="en-US" dirty="0">
                <a:latin typeface="SF Compact Display" panose="020B0304030202060204" pitchFamily="34" charset="0"/>
              </a:rPr>
              <a:t>. “Comparative performance testing of SOA wavelength conversion techniques for future all-optical systems,” International Journal for Light and Electron Optics (</a:t>
            </a:r>
            <a:r>
              <a:rPr lang="en-US" dirty="0" err="1">
                <a:latin typeface="SF Compact Display" panose="020B0304030202060204" pitchFamily="34" charset="0"/>
              </a:rPr>
              <a:t>Optik</a:t>
            </a:r>
            <a:r>
              <a:rPr lang="en-US" dirty="0">
                <a:latin typeface="SF Compact Display" panose="020B0304030202060204" pitchFamily="34" charset="0"/>
              </a:rPr>
              <a:t>), April 2012. </a:t>
            </a:r>
          </a:p>
        </p:txBody>
      </p:sp>
    </p:spTree>
    <p:extLst>
      <p:ext uri="{BB962C8B-B14F-4D97-AF65-F5344CB8AC3E}">
        <p14:creationId xmlns:p14="http://schemas.microsoft.com/office/powerpoint/2010/main" val="33140570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5E707-F1CE-48B5-9113-A3C403CCB8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>
                <a:latin typeface="SF Compact Display" panose="020B0304030202060204" pitchFamily="34" charset="0"/>
              </a:rPr>
              <a:t>AOWC using cross-gain modulation (XGM) in SOA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EACC01BD-CC1A-47F3-84ED-6CBBAA7B07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465" y="1532782"/>
            <a:ext cx="11241069" cy="532521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7F83535-00BF-4876-B873-DAD727058D34}"/>
              </a:ext>
            </a:extLst>
          </p:cNvPr>
          <p:cNvSpPr txBox="1"/>
          <p:nvPr/>
        </p:nvSpPr>
        <p:spPr>
          <a:xfrm>
            <a:off x="3791824" y="1532782"/>
            <a:ext cx="602329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2800" dirty="0"/>
              <a:t>λ</a:t>
            </a:r>
            <a:r>
              <a:rPr lang="en-US" sz="2800" baseline="-25000" dirty="0">
                <a:latin typeface="SF Compact Display" panose="020B0304030202060204" pitchFamily="34" charset="0"/>
              </a:rPr>
              <a:t>s</a:t>
            </a:r>
            <a:r>
              <a:rPr lang="en-US" sz="2800" dirty="0">
                <a:latin typeface="SF Compact Display" panose="020B0304030202060204" pitchFamily="34" charset="0"/>
              </a:rPr>
              <a:t> HIGH: Deplete carriers in SOA -&gt; no gain -&gt; </a:t>
            </a:r>
            <a:r>
              <a:rPr lang="el-GR" sz="2800" dirty="0"/>
              <a:t>λ</a:t>
            </a:r>
            <a:r>
              <a:rPr lang="en-US" sz="2800" baseline="-25000" dirty="0">
                <a:latin typeface="SF Compact Display" panose="020B0304030202060204" pitchFamily="34" charset="0"/>
              </a:rPr>
              <a:t>c</a:t>
            </a:r>
            <a:r>
              <a:rPr lang="en-US" sz="2800" dirty="0">
                <a:latin typeface="SF Compact Display" panose="020B0304030202060204" pitchFamily="34" charset="0"/>
              </a:rPr>
              <a:t> * small value</a:t>
            </a:r>
            <a:r>
              <a:rPr lang="en-US" sz="2800" baseline="-25000" dirty="0">
                <a:latin typeface="SF Compact Display" panose="020B0304030202060204" pitchFamily="34" charset="0"/>
              </a:rPr>
              <a:t> </a:t>
            </a:r>
            <a:endParaRPr lang="en-US" sz="2800" dirty="0">
              <a:latin typeface="SF Compact Display" panose="020B030403020206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85D00CB-7FA4-41DE-A690-B18B33D27CBA}"/>
              </a:ext>
            </a:extLst>
          </p:cNvPr>
          <p:cNvSpPr/>
          <p:nvPr/>
        </p:nvSpPr>
        <p:spPr>
          <a:xfrm>
            <a:off x="-2" y="6211669"/>
            <a:ext cx="1219200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SF Compact Display" panose="020B0304030202060204" pitchFamily="34" charset="0"/>
              </a:rPr>
              <a:t>Farah Diana </a:t>
            </a:r>
            <a:r>
              <a:rPr lang="en-US" dirty="0" err="1">
                <a:latin typeface="SF Compact Display" panose="020B0304030202060204" pitchFamily="34" charset="0"/>
              </a:rPr>
              <a:t>Mahad,Abu</a:t>
            </a:r>
            <a:r>
              <a:rPr lang="en-US" dirty="0">
                <a:latin typeface="SF Compact Display" panose="020B0304030202060204" pitchFamily="34" charset="0"/>
              </a:rPr>
              <a:t> </a:t>
            </a:r>
            <a:r>
              <a:rPr lang="en-US" dirty="0" err="1">
                <a:latin typeface="SF Compact Display" panose="020B0304030202060204" pitchFamily="34" charset="0"/>
              </a:rPr>
              <a:t>Sahmah</a:t>
            </a:r>
            <a:r>
              <a:rPr lang="en-US" dirty="0">
                <a:latin typeface="SF Compact Display" panose="020B0304030202060204" pitchFamily="34" charset="0"/>
              </a:rPr>
              <a:t> </a:t>
            </a:r>
            <a:r>
              <a:rPr lang="en-US" dirty="0" err="1">
                <a:latin typeface="SF Compact Display" panose="020B0304030202060204" pitchFamily="34" charset="0"/>
              </a:rPr>
              <a:t>M.Supa’at</a:t>
            </a:r>
            <a:r>
              <a:rPr lang="en-US" dirty="0">
                <a:latin typeface="SF Compact Display" panose="020B0304030202060204" pitchFamily="34" charset="0"/>
              </a:rPr>
              <a:t>. “Comparative performance testing of SOA wavelength conversion techniques for future all-optical systems,” International Journal for Light and Electron Optics (</a:t>
            </a:r>
            <a:r>
              <a:rPr lang="en-US" dirty="0" err="1">
                <a:latin typeface="SF Compact Display" panose="020B0304030202060204" pitchFamily="34" charset="0"/>
              </a:rPr>
              <a:t>Optik</a:t>
            </a:r>
            <a:r>
              <a:rPr lang="en-US" dirty="0">
                <a:latin typeface="SF Compact Display" panose="020B0304030202060204" pitchFamily="34" charset="0"/>
              </a:rPr>
              <a:t>), April 2012. 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DB8D17B-1B7F-49E3-9F8D-0F44F94333BC}"/>
              </a:ext>
            </a:extLst>
          </p:cNvPr>
          <p:cNvCxnSpPr/>
          <p:nvPr/>
        </p:nvCxnSpPr>
        <p:spPr>
          <a:xfrm flipH="1">
            <a:off x="2306972" y="1812022"/>
            <a:ext cx="1543575" cy="67486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2FB75B8-85E6-417C-863E-CF519E4F9BDA}"/>
              </a:ext>
            </a:extLst>
          </p:cNvPr>
          <p:cNvCxnSpPr>
            <a:cxnSpLocks/>
          </p:cNvCxnSpPr>
          <p:nvPr/>
        </p:nvCxnSpPr>
        <p:spPr>
          <a:xfrm>
            <a:off x="8046442" y="2149455"/>
            <a:ext cx="1634453" cy="195276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28387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5E707-F1CE-48B5-9113-A3C403CCB8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>
                <a:latin typeface="SF Compact Display" panose="020B0304030202060204" pitchFamily="34" charset="0"/>
              </a:rPr>
              <a:t>AOWC using cross-gain modulation (XGM) in SOA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EACC01BD-CC1A-47F3-84ED-6CBBAA7B07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465" y="1532782"/>
            <a:ext cx="11241069" cy="532521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7F83535-00BF-4876-B873-DAD727058D34}"/>
              </a:ext>
            </a:extLst>
          </p:cNvPr>
          <p:cNvSpPr txBox="1"/>
          <p:nvPr/>
        </p:nvSpPr>
        <p:spPr>
          <a:xfrm>
            <a:off x="3791824" y="1532782"/>
            <a:ext cx="602329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2800" dirty="0"/>
              <a:t>λ</a:t>
            </a:r>
            <a:r>
              <a:rPr lang="en-US" sz="2800" baseline="-25000" dirty="0">
                <a:latin typeface="SF Compact Display" panose="020B0304030202060204" pitchFamily="34" charset="0"/>
              </a:rPr>
              <a:t>s</a:t>
            </a:r>
            <a:r>
              <a:rPr lang="en-US" sz="2800" dirty="0">
                <a:latin typeface="SF Compact Display" panose="020B0304030202060204" pitchFamily="34" charset="0"/>
              </a:rPr>
              <a:t> HIGH: Deplete carriers in SOA -&gt; no gain -&gt; </a:t>
            </a:r>
            <a:r>
              <a:rPr lang="el-GR" sz="2800" dirty="0"/>
              <a:t>λ</a:t>
            </a:r>
            <a:r>
              <a:rPr lang="en-US" sz="2800" baseline="-25000" dirty="0">
                <a:latin typeface="SF Compact Display" panose="020B0304030202060204" pitchFamily="34" charset="0"/>
              </a:rPr>
              <a:t>c</a:t>
            </a:r>
            <a:r>
              <a:rPr lang="en-US" sz="2800" dirty="0">
                <a:latin typeface="SF Compact Display" panose="020B0304030202060204" pitchFamily="34" charset="0"/>
              </a:rPr>
              <a:t> * small value</a:t>
            </a:r>
            <a:r>
              <a:rPr lang="en-US" sz="2800" baseline="-25000" dirty="0">
                <a:latin typeface="SF Compact Display" panose="020B0304030202060204" pitchFamily="34" charset="0"/>
              </a:rPr>
              <a:t> </a:t>
            </a:r>
            <a:endParaRPr lang="en-US" sz="2800" dirty="0">
              <a:latin typeface="SF Compact Display" panose="020B030403020206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5DA69D-7674-403C-B6C8-878BA475492A}"/>
              </a:ext>
            </a:extLst>
          </p:cNvPr>
          <p:cNvSpPr txBox="1"/>
          <p:nvPr/>
        </p:nvSpPr>
        <p:spPr>
          <a:xfrm>
            <a:off x="8704886" y="4823277"/>
            <a:ext cx="60232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SF Compact Display" panose="020B0304030202060204" pitchFamily="34" charset="0"/>
              </a:rPr>
              <a:t>Inverted signal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3709517-F48D-40FB-AC4A-FE7AA2F98E44}"/>
              </a:ext>
            </a:extLst>
          </p:cNvPr>
          <p:cNvSpPr/>
          <p:nvPr/>
        </p:nvSpPr>
        <p:spPr>
          <a:xfrm>
            <a:off x="-2" y="6211669"/>
            <a:ext cx="1219200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SF Compact Display" panose="020B0304030202060204" pitchFamily="34" charset="0"/>
              </a:rPr>
              <a:t>Farah Diana </a:t>
            </a:r>
            <a:r>
              <a:rPr lang="en-US" dirty="0" err="1">
                <a:latin typeface="SF Compact Display" panose="020B0304030202060204" pitchFamily="34" charset="0"/>
              </a:rPr>
              <a:t>Mahad,Abu</a:t>
            </a:r>
            <a:r>
              <a:rPr lang="en-US" dirty="0">
                <a:latin typeface="SF Compact Display" panose="020B0304030202060204" pitchFamily="34" charset="0"/>
              </a:rPr>
              <a:t> </a:t>
            </a:r>
            <a:r>
              <a:rPr lang="en-US" dirty="0" err="1">
                <a:latin typeface="SF Compact Display" panose="020B0304030202060204" pitchFamily="34" charset="0"/>
              </a:rPr>
              <a:t>Sahmah</a:t>
            </a:r>
            <a:r>
              <a:rPr lang="en-US" dirty="0">
                <a:latin typeface="SF Compact Display" panose="020B0304030202060204" pitchFamily="34" charset="0"/>
              </a:rPr>
              <a:t> </a:t>
            </a:r>
            <a:r>
              <a:rPr lang="en-US" dirty="0" err="1">
                <a:latin typeface="SF Compact Display" panose="020B0304030202060204" pitchFamily="34" charset="0"/>
              </a:rPr>
              <a:t>M.Supa’at</a:t>
            </a:r>
            <a:r>
              <a:rPr lang="en-US" dirty="0">
                <a:latin typeface="SF Compact Display" panose="020B0304030202060204" pitchFamily="34" charset="0"/>
              </a:rPr>
              <a:t>. “Comparative performance testing of SOA wavelength conversion techniques for future all-optical systems,” International Journal for Light and Electron Optics (</a:t>
            </a:r>
            <a:r>
              <a:rPr lang="en-US" dirty="0" err="1">
                <a:latin typeface="SF Compact Display" panose="020B0304030202060204" pitchFamily="34" charset="0"/>
              </a:rPr>
              <a:t>Optik</a:t>
            </a:r>
            <a:r>
              <a:rPr lang="en-US" dirty="0">
                <a:latin typeface="SF Compact Display" panose="020B0304030202060204" pitchFamily="34" charset="0"/>
              </a:rPr>
              <a:t>), April 2012. </a:t>
            </a:r>
          </a:p>
        </p:txBody>
      </p:sp>
    </p:spTree>
    <p:extLst>
      <p:ext uri="{BB962C8B-B14F-4D97-AF65-F5344CB8AC3E}">
        <p14:creationId xmlns:p14="http://schemas.microsoft.com/office/powerpoint/2010/main" val="9124443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5E707-F1CE-48B5-9113-A3C403CCB8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>
                <a:latin typeface="SF Compact Display" panose="020B0304030202060204" pitchFamily="34" charset="0"/>
              </a:rPr>
              <a:t>AOWC using cross-phase modulation (XPM) in SOA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BC09BC6-D88E-4671-A2A7-77D1CEBCB6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8230" y="1653994"/>
            <a:ext cx="7008608" cy="404431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35E257E-1404-4CEE-9834-25052D5530AD}"/>
              </a:ext>
            </a:extLst>
          </p:cNvPr>
          <p:cNvSpPr txBox="1"/>
          <p:nvPr/>
        </p:nvSpPr>
        <p:spPr>
          <a:xfrm>
            <a:off x="458598" y="1690688"/>
            <a:ext cx="100845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SF Compact Display" panose="020B0304030202060204" pitchFamily="34" charset="0"/>
              </a:rPr>
              <a:t>	Mach-</a:t>
            </a:r>
            <a:r>
              <a:rPr lang="en-US" sz="2800" dirty="0" err="1">
                <a:latin typeface="SF Compact Display" panose="020B0304030202060204" pitchFamily="34" charset="0"/>
              </a:rPr>
              <a:t>Zender</a:t>
            </a:r>
            <a:r>
              <a:rPr lang="en-US" sz="2800" dirty="0">
                <a:latin typeface="SF Compact Display" panose="020B0304030202060204" pitchFamily="34" charset="0"/>
              </a:rPr>
              <a:t> Interferometer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B4FAAB-53BA-4B03-BDF5-A0251EF1A171}"/>
              </a:ext>
            </a:extLst>
          </p:cNvPr>
          <p:cNvSpPr txBox="1"/>
          <p:nvPr/>
        </p:nvSpPr>
        <p:spPr>
          <a:xfrm>
            <a:off x="458598" y="5698306"/>
            <a:ext cx="100845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SF Compact Display" panose="020B0304030202060204" pitchFamily="34" charset="0"/>
              </a:rPr>
              <a:t>Converts phase modulation to intensity modulation</a:t>
            </a:r>
          </a:p>
        </p:txBody>
      </p:sp>
    </p:spTree>
    <p:extLst>
      <p:ext uri="{BB962C8B-B14F-4D97-AF65-F5344CB8AC3E}">
        <p14:creationId xmlns:p14="http://schemas.microsoft.com/office/powerpoint/2010/main" val="41402881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908B6B6-7E61-4F56-90B8-2A53043B02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8723" y="1178552"/>
            <a:ext cx="12192000" cy="48438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D35E707-F1CE-48B5-9113-A3C403CCB8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>
                <a:latin typeface="SF Compact Display" panose="020B0304030202060204" pitchFamily="34" charset="0"/>
              </a:rPr>
              <a:t>AOWC using cross-phase modulation (XPM) in SOA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638DE45-4C23-42CD-8DB4-C1E957B201D8}"/>
              </a:ext>
            </a:extLst>
          </p:cNvPr>
          <p:cNvSpPr/>
          <p:nvPr/>
        </p:nvSpPr>
        <p:spPr>
          <a:xfrm>
            <a:off x="-58723" y="6211669"/>
            <a:ext cx="1219199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SF Compact Display" panose="020B0304030202060204" pitchFamily="34" charset="0"/>
              </a:rPr>
              <a:t>Provo, Richard (2010). </a:t>
            </a:r>
            <a:r>
              <a:rPr lang="en-US" i="1" dirty="0">
                <a:latin typeface="SF Compact Display" panose="020B0304030202060204" pitchFamily="34" charset="0"/>
              </a:rPr>
              <a:t>Nonlinear Techniques for Optical Wavelength Conversion</a:t>
            </a:r>
            <a:r>
              <a:rPr lang="en-US" dirty="0">
                <a:latin typeface="SF Compact Display" panose="020B0304030202060204" pitchFamily="34" charset="0"/>
              </a:rPr>
              <a:t> (Doctoral dissertation). Retrieved from The University of Auckland</a:t>
            </a:r>
          </a:p>
        </p:txBody>
      </p:sp>
    </p:spTree>
    <p:extLst>
      <p:ext uri="{BB962C8B-B14F-4D97-AF65-F5344CB8AC3E}">
        <p14:creationId xmlns:p14="http://schemas.microsoft.com/office/powerpoint/2010/main" val="22374856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908B6B6-7E61-4F56-90B8-2A53043B02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8723" y="1178552"/>
            <a:ext cx="12192000" cy="48438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D35E707-F1CE-48B5-9113-A3C403CCB8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>
                <a:latin typeface="SF Compact Display" panose="020B0304030202060204" pitchFamily="34" charset="0"/>
              </a:rPr>
              <a:t>AOWC using cross-phase modulation (XPM) in SOA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43B756-82E7-4297-891E-74939CB2953F}"/>
              </a:ext>
            </a:extLst>
          </p:cNvPr>
          <p:cNvSpPr txBox="1"/>
          <p:nvPr/>
        </p:nvSpPr>
        <p:spPr>
          <a:xfrm>
            <a:off x="771788" y="1879906"/>
            <a:ext cx="78772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2800" dirty="0"/>
              <a:t>λ</a:t>
            </a:r>
            <a:r>
              <a:rPr lang="en-US" sz="2800" baseline="-25000" dirty="0">
                <a:latin typeface="SF Compact Display" panose="020B0304030202060204" pitchFamily="34" charset="0"/>
              </a:rPr>
              <a:t>Pump</a:t>
            </a:r>
            <a:r>
              <a:rPr lang="en-US" sz="2800" dirty="0">
                <a:latin typeface="SF Compact Display" panose="020B0304030202060204" pitchFamily="34" charset="0"/>
              </a:rPr>
              <a:t> HIGH: Deplete carriers in SOA -&gt; </a:t>
            </a:r>
            <a:r>
              <a:rPr lang="el-GR" sz="2800" dirty="0">
                <a:latin typeface="SF Compact Display" panose="020B0304030202060204" pitchFamily="34" charset="0"/>
              </a:rPr>
              <a:t>Δ</a:t>
            </a:r>
            <a:r>
              <a:rPr lang="en-US" sz="2800" dirty="0">
                <a:latin typeface="SF Compact Display" panose="020B0304030202060204" pitchFamily="34" charset="0"/>
              </a:rPr>
              <a:t>n -&gt; </a:t>
            </a:r>
            <a:r>
              <a:rPr lang="el-GR" sz="2800" dirty="0">
                <a:latin typeface="SF Compact Display" panose="020B0304030202060204" pitchFamily="34" charset="0"/>
              </a:rPr>
              <a:t>Δ</a:t>
            </a:r>
            <a:r>
              <a:rPr lang="az-Cyrl-AZ" sz="2800" dirty="0">
                <a:latin typeface="SF Compact Display" panose="020B0304030202060204" pitchFamily="34" charset="0"/>
              </a:rPr>
              <a:t>ф</a:t>
            </a:r>
            <a:endParaRPr lang="en-US" sz="2800" dirty="0">
              <a:latin typeface="SF Compact Display" panose="020B030403020206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81BF98C-326D-4C8D-B5F3-5C888128477E}"/>
              </a:ext>
            </a:extLst>
          </p:cNvPr>
          <p:cNvSpPr/>
          <p:nvPr/>
        </p:nvSpPr>
        <p:spPr>
          <a:xfrm>
            <a:off x="-58723" y="6211669"/>
            <a:ext cx="1219199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SF Compact Display" panose="020B0304030202060204" pitchFamily="34" charset="0"/>
              </a:rPr>
              <a:t>Provo, Richard (2010). </a:t>
            </a:r>
            <a:r>
              <a:rPr lang="en-US" i="1" dirty="0">
                <a:latin typeface="SF Compact Display" panose="020B0304030202060204" pitchFamily="34" charset="0"/>
              </a:rPr>
              <a:t>Nonlinear Techniques for Optical Wavelength Conversion</a:t>
            </a:r>
            <a:r>
              <a:rPr lang="en-US" dirty="0">
                <a:latin typeface="SF Compact Display" panose="020B0304030202060204" pitchFamily="34" charset="0"/>
              </a:rPr>
              <a:t> (Doctoral dissertation). Retrieved from The University of Auckland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A29274A-7BEB-477B-A921-D34AE677BC63}"/>
              </a:ext>
            </a:extLst>
          </p:cNvPr>
          <p:cNvCxnSpPr>
            <a:cxnSpLocks/>
          </p:cNvCxnSpPr>
          <p:nvPr/>
        </p:nvCxnSpPr>
        <p:spPr>
          <a:xfrm>
            <a:off x="6037276" y="2403126"/>
            <a:ext cx="1" cy="67486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70810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908B6B6-7E61-4F56-90B8-2A53043B02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8723" y="1178552"/>
            <a:ext cx="12192000" cy="48438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D35E707-F1CE-48B5-9113-A3C403CCB8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>
                <a:latin typeface="SF Compact Display" panose="020B0304030202060204" pitchFamily="34" charset="0"/>
              </a:rPr>
              <a:t>AOWC using cross-phase modulation (XPM) in SOA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F51A62-AA92-4F1A-B519-3C1106A3B6F3}"/>
              </a:ext>
            </a:extLst>
          </p:cNvPr>
          <p:cNvSpPr txBox="1"/>
          <p:nvPr/>
        </p:nvSpPr>
        <p:spPr>
          <a:xfrm>
            <a:off x="8339575" y="5679448"/>
            <a:ext cx="24738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SF Compact Display" panose="020B0304030202060204" pitchFamily="34" charset="0"/>
              </a:rPr>
              <a:t>MZI: </a:t>
            </a:r>
            <a:r>
              <a:rPr lang="el-GR" sz="2800" dirty="0">
                <a:latin typeface="SF Compact Display" panose="020B0304030202060204" pitchFamily="34" charset="0"/>
              </a:rPr>
              <a:t>Δ</a:t>
            </a:r>
            <a:r>
              <a:rPr lang="az-Cyrl-AZ" sz="2800" dirty="0">
                <a:latin typeface="SF Compact Display" panose="020B0304030202060204" pitchFamily="34" charset="0"/>
              </a:rPr>
              <a:t>ф</a:t>
            </a:r>
            <a:r>
              <a:rPr lang="en-US" sz="2800" dirty="0">
                <a:latin typeface="SF Compact Display" panose="020B0304030202060204" pitchFamily="34" charset="0"/>
              </a:rPr>
              <a:t> -&gt; </a:t>
            </a:r>
            <a:r>
              <a:rPr lang="el-GR" sz="2800" dirty="0">
                <a:latin typeface="SF Compact Display" panose="020B0304030202060204" pitchFamily="34" charset="0"/>
              </a:rPr>
              <a:t>Δ</a:t>
            </a:r>
            <a:r>
              <a:rPr lang="en-US" sz="2800" dirty="0">
                <a:latin typeface="SF Compact Display" panose="020B0304030202060204" pitchFamily="34" charset="0"/>
              </a:rPr>
              <a:t>I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B64029B-17CD-435D-B2AE-E279CB096EFF}"/>
              </a:ext>
            </a:extLst>
          </p:cNvPr>
          <p:cNvSpPr/>
          <p:nvPr/>
        </p:nvSpPr>
        <p:spPr>
          <a:xfrm>
            <a:off x="-58723" y="6211669"/>
            <a:ext cx="1219199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SF Compact Display" panose="020B0304030202060204" pitchFamily="34" charset="0"/>
              </a:rPr>
              <a:t>Provo, Richard (2010). </a:t>
            </a:r>
            <a:r>
              <a:rPr lang="en-US" i="1" dirty="0">
                <a:latin typeface="SF Compact Display" panose="020B0304030202060204" pitchFamily="34" charset="0"/>
              </a:rPr>
              <a:t>Nonlinear Techniques for Optical Wavelength Conversion</a:t>
            </a:r>
            <a:r>
              <a:rPr lang="en-US" dirty="0">
                <a:latin typeface="SF Compact Display" panose="020B0304030202060204" pitchFamily="34" charset="0"/>
              </a:rPr>
              <a:t> (Doctoral dissertation). Retrieved from The University of Auckland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0838596-85A0-4BAC-98E9-37AB776FB33E}"/>
              </a:ext>
            </a:extLst>
          </p:cNvPr>
          <p:cNvSpPr txBox="1"/>
          <p:nvPr/>
        </p:nvSpPr>
        <p:spPr>
          <a:xfrm>
            <a:off x="771788" y="1879906"/>
            <a:ext cx="78772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2800" dirty="0"/>
              <a:t>λ</a:t>
            </a:r>
            <a:r>
              <a:rPr lang="en-US" sz="2800" baseline="-25000" dirty="0">
                <a:latin typeface="SF Compact Display" panose="020B0304030202060204" pitchFamily="34" charset="0"/>
              </a:rPr>
              <a:t>Pump</a:t>
            </a:r>
            <a:r>
              <a:rPr lang="en-US" sz="2800" dirty="0">
                <a:latin typeface="SF Compact Display" panose="020B0304030202060204" pitchFamily="34" charset="0"/>
              </a:rPr>
              <a:t> HIGH: Deplete carriers in SOA -&gt; </a:t>
            </a:r>
            <a:r>
              <a:rPr lang="el-GR" sz="2800" dirty="0">
                <a:latin typeface="SF Compact Display" panose="020B0304030202060204" pitchFamily="34" charset="0"/>
              </a:rPr>
              <a:t>Δ</a:t>
            </a:r>
            <a:r>
              <a:rPr lang="en-US" sz="2800" dirty="0">
                <a:latin typeface="SF Compact Display" panose="020B0304030202060204" pitchFamily="34" charset="0"/>
              </a:rPr>
              <a:t>n -&gt; </a:t>
            </a:r>
            <a:r>
              <a:rPr lang="el-GR" sz="2800" dirty="0">
                <a:latin typeface="SF Compact Display" panose="020B0304030202060204" pitchFamily="34" charset="0"/>
              </a:rPr>
              <a:t>Δ</a:t>
            </a:r>
            <a:r>
              <a:rPr lang="az-Cyrl-AZ" sz="2800" dirty="0">
                <a:latin typeface="SF Compact Display" panose="020B0304030202060204" pitchFamily="34" charset="0"/>
              </a:rPr>
              <a:t>ф</a:t>
            </a:r>
            <a:endParaRPr lang="en-US" sz="2800" dirty="0">
              <a:latin typeface="SF Compact Display" panose="020B0304030202060204" pitchFamily="34" charset="0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1059BF8-9FE2-424C-9D24-55B4A41D0D58}"/>
              </a:ext>
            </a:extLst>
          </p:cNvPr>
          <p:cNvCxnSpPr>
            <a:cxnSpLocks/>
          </p:cNvCxnSpPr>
          <p:nvPr/>
        </p:nvCxnSpPr>
        <p:spPr>
          <a:xfrm>
            <a:off x="6037276" y="2403126"/>
            <a:ext cx="1" cy="67486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21401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5E707-F1CE-48B5-9113-A3C403CCB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SF Compact Display" panose="020B0304030202060204" pitchFamily="34" charset="0"/>
              </a:rPr>
              <a:t>AOWC using four-wave mixing (FWM) in SOA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8B6D0F-F965-46FF-BE6D-A3642E01D301}"/>
              </a:ext>
            </a:extLst>
          </p:cNvPr>
          <p:cNvSpPr txBox="1"/>
          <p:nvPr/>
        </p:nvSpPr>
        <p:spPr>
          <a:xfrm>
            <a:off x="310393" y="2181138"/>
            <a:ext cx="240764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endParaRPr lang="en-US" sz="2800" dirty="0">
              <a:solidFill>
                <a:prstClr val="black"/>
              </a:solidFill>
              <a:latin typeface="SF Compact Display" panose="020B0304030202060204" pitchFamily="34" charset="0"/>
            </a:endParaRPr>
          </a:p>
          <a:p>
            <a:endParaRPr lang="en-US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27A7BFDC-292E-4F90-B9A5-A0E0B60A6E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203" y="1895975"/>
            <a:ext cx="9983593" cy="4210638"/>
          </a:xfr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DBBA1978-DB33-470B-81E5-E975B0A8C704}"/>
              </a:ext>
            </a:extLst>
          </p:cNvPr>
          <p:cNvSpPr/>
          <p:nvPr/>
        </p:nvSpPr>
        <p:spPr>
          <a:xfrm>
            <a:off x="-2" y="6211669"/>
            <a:ext cx="1219200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SF Compact Display" panose="020B0304030202060204" pitchFamily="34" charset="0"/>
              </a:rPr>
              <a:t>Farah Diana </a:t>
            </a:r>
            <a:r>
              <a:rPr lang="en-US" dirty="0" err="1">
                <a:latin typeface="SF Compact Display" panose="020B0304030202060204" pitchFamily="34" charset="0"/>
              </a:rPr>
              <a:t>Mahad,Abu</a:t>
            </a:r>
            <a:r>
              <a:rPr lang="en-US" dirty="0">
                <a:latin typeface="SF Compact Display" panose="020B0304030202060204" pitchFamily="34" charset="0"/>
              </a:rPr>
              <a:t> </a:t>
            </a:r>
            <a:r>
              <a:rPr lang="en-US" dirty="0" err="1">
                <a:latin typeface="SF Compact Display" panose="020B0304030202060204" pitchFamily="34" charset="0"/>
              </a:rPr>
              <a:t>Sahmah</a:t>
            </a:r>
            <a:r>
              <a:rPr lang="en-US" dirty="0">
                <a:latin typeface="SF Compact Display" panose="020B0304030202060204" pitchFamily="34" charset="0"/>
              </a:rPr>
              <a:t> </a:t>
            </a:r>
            <a:r>
              <a:rPr lang="en-US" dirty="0" err="1">
                <a:latin typeface="SF Compact Display" panose="020B0304030202060204" pitchFamily="34" charset="0"/>
              </a:rPr>
              <a:t>M.Supa’at</a:t>
            </a:r>
            <a:r>
              <a:rPr lang="en-US" dirty="0">
                <a:latin typeface="SF Compact Display" panose="020B0304030202060204" pitchFamily="34" charset="0"/>
              </a:rPr>
              <a:t>. “Comparative performance testing of SOA wavelength conversion techniques for future all-optical systems,” International Journal for Light and Electron Optics (</a:t>
            </a:r>
            <a:r>
              <a:rPr lang="en-US" dirty="0" err="1">
                <a:latin typeface="SF Compact Display" panose="020B0304030202060204" pitchFamily="34" charset="0"/>
              </a:rPr>
              <a:t>Optik</a:t>
            </a:r>
            <a:r>
              <a:rPr lang="en-US" dirty="0">
                <a:latin typeface="SF Compact Display" panose="020B0304030202060204" pitchFamily="34" charset="0"/>
              </a:rPr>
              <a:t>), April 2012. </a:t>
            </a:r>
          </a:p>
        </p:txBody>
      </p:sp>
    </p:spTree>
    <p:extLst>
      <p:ext uri="{BB962C8B-B14F-4D97-AF65-F5344CB8AC3E}">
        <p14:creationId xmlns:p14="http://schemas.microsoft.com/office/powerpoint/2010/main" val="38719382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5E707-F1CE-48B5-9113-A3C403CCB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SF Compact Display" panose="020B0304030202060204" pitchFamily="34" charset="0"/>
              </a:rPr>
              <a:t>AOWC using four-wave mixing (FWM) in SOA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8B6D0F-F965-46FF-BE6D-A3642E01D301}"/>
              </a:ext>
            </a:extLst>
          </p:cNvPr>
          <p:cNvSpPr txBox="1"/>
          <p:nvPr/>
        </p:nvSpPr>
        <p:spPr>
          <a:xfrm>
            <a:off x="310393" y="2181138"/>
            <a:ext cx="240764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endParaRPr lang="en-US" sz="2800" dirty="0">
              <a:solidFill>
                <a:prstClr val="black"/>
              </a:solidFill>
              <a:latin typeface="SF Compact Display" panose="020B0304030202060204" pitchFamily="34" charset="0"/>
            </a:endParaRPr>
          </a:p>
          <a:p>
            <a:endParaRPr lang="en-US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27A7BFDC-292E-4F90-B9A5-A0E0B60A6E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203" y="1895975"/>
            <a:ext cx="9983593" cy="4210638"/>
          </a:xfr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0F97EBA7-CE16-44AF-A94C-7638ED11FA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605" y="1678411"/>
            <a:ext cx="5017511" cy="37247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910D134-A8F9-4B0B-AB15-F8BD40AAEDE4}"/>
              </a:ext>
            </a:extLst>
          </p:cNvPr>
          <p:cNvSpPr/>
          <p:nvPr/>
        </p:nvSpPr>
        <p:spPr>
          <a:xfrm>
            <a:off x="-2" y="6211669"/>
            <a:ext cx="1219200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SF Compact Display" panose="020B0304030202060204" pitchFamily="34" charset="0"/>
              </a:rPr>
              <a:t>Farah Diana </a:t>
            </a:r>
            <a:r>
              <a:rPr lang="en-US" dirty="0" err="1">
                <a:latin typeface="SF Compact Display" panose="020B0304030202060204" pitchFamily="34" charset="0"/>
              </a:rPr>
              <a:t>Mahad,Abu</a:t>
            </a:r>
            <a:r>
              <a:rPr lang="en-US" dirty="0">
                <a:latin typeface="SF Compact Display" panose="020B0304030202060204" pitchFamily="34" charset="0"/>
              </a:rPr>
              <a:t> </a:t>
            </a:r>
            <a:r>
              <a:rPr lang="en-US" dirty="0" err="1">
                <a:latin typeface="SF Compact Display" panose="020B0304030202060204" pitchFamily="34" charset="0"/>
              </a:rPr>
              <a:t>Sahmah</a:t>
            </a:r>
            <a:r>
              <a:rPr lang="en-US" dirty="0">
                <a:latin typeface="SF Compact Display" panose="020B0304030202060204" pitchFamily="34" charset="0"/>
              </a:rPr>
              <a:t> </a:t>
            </a:r>
            <a:r>
              <a:rPr lang="en-US" dirty="0" err="1">
                <a:latin typeface="SF Compact Display" panose="020B0304030202060204" pitchFamily="34" charset="0"/>
              </a:rPr>
              <a:t>M.Supa’at</a:t>
            </a:r>
            <a:r>
              <a:rPr lang="en-US" dirty="0">
                <a:latin typeface="SF Compact Display" panose="020B0304030202060204" pitchFamily="34" charset="0"/>
              </a:rPr>
              <a:t>. “Comparative performance testing of SOA wavelength conversion techniques for future all-optical systems,” International Journal for Light and Electron Optics (</a:t>
            </a:r>
            <a:r>
              <a:rPr lang="en-US" dirty="0" err="1">
                <a:latin typeface="SF Compact Display" panose="020B0304030202060204" pitchFamily="34" charset="0"/>
              </a:rPr>
              <a:t>Optik</a:t>
            </a:r>
            <a:r>
              <a:rPr lang="en-US" dirty="0">
                <a:latin typeface="SF Compact Display" panose="020B0304030202060204" pitchFamily="34" charset="0"/>
              </a:rPr>
              <a:t>), April 2012. </a:t>
            </a:r>
          </a:p>
        </p:txBody>
      </p:sp>
    </p:spTree>
    <p:extLst>
      <p:ext uri="{BB962C8B-B14F-4D97-AF65-F5344CB8AC3E}">
        <p14:creationId xmlns:p14="http://schemas.microsoft.com/office/powerpoint/2010/main" val="40592423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5E707-F1CE-48B5-9113-A3C403CCB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SF Compact Display" panose="020B0304030202060204" pitchFamily="34" charset="0"/>
              </a:rPr>
              <a:t>Performance Comparison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67351A2-2396-4B8C-8997-5CC7FF68FE6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07091876"/>
              </p:ext>
            </p:extLst>
          </p:nvPr>
        </p:nvGraphicFramePr>
        <p:xfrm>
          <a:off x="838200" y="1825625"/>
          <a:ext cx="10515600" cy="292608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1332527583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945351619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88436043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2800" b="0" dirty="0">
                        <a:latin typeface="SF Compact Display" panose="020B030403020206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SF Compact Display" panose="020B0304030202060204" pitchFamily="34" charset="0"/>
                        </a:rPr>
                        <a:t>Supports 10 Gb/s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SF Compact Display" panose="020B0304030202060204" pitchFamily="34" charset="0"/>
                        </a:rPr>
                        <a:t>Supports PSK and other modulation formats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66301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b="0" dirty="0"/>
                        <a:t>XGM</a:t>
                      </a:r>
                      <a:endParaRPr lang="en-US" sz="2800" b="0" dirty="0">
                        <a:latin typeface="SF Compact Display" panose="020B030403020206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SF Compact Display" panose="020B0304030202060204" pitchFamily="34" charset="0"/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SF Compact Display" panose="020B0304030202060204" pitchFamily="34" charset="0"/>
                        </a:rPr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03789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b="0" dirty="0"/>
                        <a:t>XPM</a:t>
                      </a:r>
                      <a:endParaRPr lang="en-US" sz="2800" b="0" dirty="0">
                        <a:latin typeface="SF Compact Display" panose="020B030403020206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SF Compact Display" panose="020B0304030202060204" pitchFamily="34" charset="0"/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SF Compact Display" panose="020B0304030202060204" pitchFamily="34" charset="0"/>
                        </a:rPr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5037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b="0" dirty="0"/>
                        <a:t>FWM</a:t>
                      </a:r>
                      <a:endParaRPr lang="en-US" sz="2800" b="0" dirty="0">
                        <a:latin typeface="SF Compact Display" panose="020B030403020206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SF Compact Display" panose="020B0304030202060204" pitchFamily="34" charset="0"/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SF Compact Display" panose="020B0304030202060204" pitchFamily="34" charset="0"/>
                        </a:rPr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757260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290E514E-35F1-40CC-9083-5979D3C5F305}"/>
              </a:ext>
            </a:extLst>
          </p:cNvPr>
          <p:cNvSpPr txBox="1"/>
          <p:nvPr/>
        </p:nvSpPr>
        <p:spPr>
          <a:xfrm>
            <a:off x="453006" y="4991450"/>
            <a:ext cx="113503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SF Compact Display" panose="020B0304030202060204" pitchFamily="34" charset="0"/>
              </a:rPr>
              <a:t>Each have their pros and cons.</a:t>
            </a:r>
          </a:p>
        </p:txBody>
      </p:sp>
    </p:spTree>
    <p:extLst>
      <p:ext uri="{BB962C8B-B14F-4D97-AF65-F5344CB8AC3E}">
        <p14:creationId xmlns:p14="http://schemas.microsoft.com/office/powerpoint/2010/main" val="12607894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AA2C2-0ABF-4E84-89A7-9250E471D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EF73C2-58B6-45D2-A6D4-EC3C957F59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AOWC is essential for packet switching and contention resolution</a:t>
            </a:r>
          </a:p>
          <a:p>
            <a:r>
              <a:rPr lang="en-US" dirty="0"/>
              <a:t> XGM, XPM, FWM</a:t>
            </a:r>
          </a:p>
          <a:p>
            <a:r>
              <a:rPr lang="en-US" dirty="0"/>
              <a:t>Fast, supports 10 Gb/s</a:t>
            </a:r>
          </a:p>
          <a:p>
            <a:r>
              <a:rPr lang="en-US" dirty="0"/>
              <a:t>XGM and XPM only support ASK, FWM can support PSK and other modulation formats</a:t>
            </a:r>
          </a:p>
        </p:txBody>
      </p:sp>
    </p:spTree>
    <p:extLst>
      <p:ext uri="{BB962C8B-B14F-4D97-AF65-F5344CB8AC3E}">
        <p14:creationId xmlns:p14="http://schemas.microsoft.com/office/powerpoint/2010/main" val="15370510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8C64D3-330B-4514-9552-7C4FF6155D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Thank you!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F36DD5-B8DE-4D72-A1AC-85C3DF1283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3258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2685</TotalTime>
  <Words>677</Words>
  <Application>Microsoft Office PowerPoint</Application>
  <PresentationFormat>Widescreen</PresentationFormat>
  <Paragraphs>67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Calibri Light</vt:lpstr>
      <vt:lpstr>SF Compact Display</vt:lpstr>
      <vt:lpstr>Office Theme</vt:lpstr>
      <vt:lpstr>All-optical wavelength conversion</vt:lpstr>
      <vt:lpstr>Motivation</vt:lpstr>
      <vt:lpstr>Outline</vt:lpstr>
      <vt:lpstr>Semiconductor Optical Amplifier (SOA)</vt:lpstr>
      <vt:lpstr>Semiconductor Optical Amplifier (SOA)</vt:lpstr>
      <vt:lpstr>AOWC using cross-gain modulation (XGM) in SOA</vt:lpstr>
      <vt:lpstr>AOWC using cross-gain modulation (XGM) in SOA</vt:lpstr>
      <vt:lpstr>AOWC using cross-gain modulation (XGM) in SOA</vt:lpstr>
      <vt:lpstr>AOWC using cross-phase modulation (XPM) in SOA</vt:lpstr>
      <vt:lpstr>AOWC using cross-phase modulation (XPM) in SOA</vt:lpstr>
      <vt:lpstr>AOWC using cross-phase modulation (XPM) in SOA</vt:lpstr>
      <vt:lpstr>AOWC using cross-phase modulation (XPM) in SOA</vt:lpstr>
      <vt:lpstr>AOWC using four-wave mixing (FWM) in SOA</vt:lpstr>
      <vt:lpstr>AOWC using four-wave mixing (FWM) in SOA</vt:lpstr>
      <vt:lpstr>Performance Comparison</vt:lpstr>
      <vt:lpstr>Summary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All-optical wavelength conversion</dc:title>
  <dc:creator>Binh Phan</dc:creator>
  <cp:lastModifiedBy>Binh Phan</cp:lastModifiedBy>
  <cp:revision>34</cp:revision>
  <dcterms:created xsi:type="dcterms:W3CDTF">2018-11-04T22:43:38Z</dcterms:created>
  <dcterms:modified xsi:type="dcterms:W3CDTF">2018-11-08T15:22:14Z</dcterms:modified>
</cp:coreProperties>
</file>